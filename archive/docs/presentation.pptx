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F3864"/>
                </a:solidFill>
              </a:rPr>
              <a:t>Analisis Sentimen Komentar YouTube — Isu Ijazah Jokowi</a:t>
            </a:r>
          </a:p>
          <a:p>
            <a:pPr algn="ctr"/>
            <a:r>
              <a:rPr sz="2200">
                <a:solidFill>
                  <a:srgbClr val="2E74B5"/>
                </a:solidFill>
              </a:rPr>
              <a:t>
Perbandingan SVM + TF-IDF  vs  IndoBERT</a:t>
            </a:r>
          </a:p>
          <a:p>
            <a:pPr algn="ctr"/>
            <a:r>
              <a:rPr sz="1400">
                <a:solidFill>
                  <a:srgbClr val="333333"/>
                </a:solidFill>
              </a:rPr>
              <a:t>Progress Report  ·  (Nama / NIM / Pembimbing)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</a:rPr>
              <a:t>1 · Latar &amp; Masalah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</a:rPr>
              <a:t>•  Komentar YouTube tentang dugaan ijazah palsu Jokowi.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F3864"/>
                </a:solidFill>
              </a:rPr>
              <a:t>•  Klasifikasi sentimen 3 kelas, di-anchor ke sikap terhadap TUDUHAN (bukan sosok Jokowi):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333333"/>
                </a:solidFill>
              </a:rPr>
              <a:t>–  Positif = mendukung / percaya tuduhan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333333"/>
                </a:solidFill>
              </a:rPr>
              <a:t>–  Negatif = membantah / membela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333333"/>
                </a:solidFill>
              </a:rPr>
              <a:t>–  Netral = tak bersikap / bertanya / OOT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</a:rPr>
              <a:t>•  Tujuan: bandingkan ML klasik (SVM+TF-IDF) vs deep learning (IndoBERT).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B7A3D"/>
                </a:solidFill>
              </a:rPr>
              <a:t>•  Keputusan kunci: issue-anchored polarity -&gt; label konsisten.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864"/>
                </a:solidFill>
              </a:rPr>
              <a:t>2 · Arsitektur &amp; Alur (4 tahap)</a:t>
            </a:r>
          </a:p>
        </p:txBody>
      </p:sp>
      <p:pic>
        <p:nvPicPr>
          <p:cNvPr id="3" name="Picture 2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904" y="1051560"/>
            <a:ext cx="450188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</a:rPr>
              <a:t>3 · Data &amp; Pelabelan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</a:rPr>
              <a:t>•  14.107 komentar di-scrape (YouTube Data API) -&gt; MongoDB Atlas.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</a:rPr>
              <a:t>•  10.000 dilabeli — LLM-assisted (rubrik issue-anchored, konsisten).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F3864"/>
                </a:solidFill>
              </a:rPr>
              <a:t>•  4 versi dataset untuk eksperimen: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333333"/>
                </a:solidFill>
              </a:rPr>
              <a:t>–  v1 = imbalanced 6.000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333333"/>
                </a:solidFill>
              </a:rPr>
              <a:t>–  v2 = balanced 3.000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333333"/>
                </a:solidFill>
              </a:rPr>
              <a:t>–  v3 = imbalanced 10.000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333333"/>
                </a:solidFill>
              </a:rPr>
              <a:t>–  v4 = balanced ~5.808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</a:rPr>
              <a:t>•  Semua data = dokumen JSON di MongoDB Atlas.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</a:rPr>
              <a:t>4 · Preprocessing — 2 jalur berbeda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1F3864"/>
                </a:solidFill>
              </a:rPr>
              <a:t>•  SVM + TF-IDF (AGRESIF): clean -&gt; normalisasi slang -&gt; buang stopword -&gt; stemming.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333333"/>
                </a:solidFill>
              </a:rPr>
              <a:t>–  Alasan: TF-IDF = bag-of-words, butuh sinyal padat.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F3864"/>
                </a:solidFill>
              </a:rPr>
              <a:t>•  IndoBERT (MINIMAL): cleaning ringan saja.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333333"/>
                </a:solidFill>
              </a:rPr>
              <a:t>–  Alasan: tokenizer &amp; konteks model yang bekerja.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B7A3D"/>
                </a:solidFill>
              </a:rPr>
              <a:t>•  Negasi DIPERTAHANKAN di kedua jalur -&gt; "tidak palsu" != "palsu".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864"/>
                </a:solidFill>
              </a:rPr>
              <a:t>5 · Hasil Utama</a:t>
            </a:r>
          </a:p>
        </p:txBody>
      </p:sp>
      <p:pic>
        <p:nvPicPr>
          <p:cNvPr id="3" name="Picture 2" descr="all_model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251" y="960120"/>
            <a:ext cx="5883192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F3864"/>
                </a:solidFill>
              </a:rPr>
              <a:t>SVM terbaik (v2): macro-F1 0,694   ·   IndoBERT terbaik (v4): 0,666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</a:rPr>
              <a:t>6 · Temuan Kunci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>
                <a:solidFill>
                  <a:srgbClr val="1F3864"/>
                </a:solidFill>
              </a:rPr>
              <a:t>•  CROSSOVER ukuran data: data kecil -&gt; SVM menang; data 10k -&gt; IndoBERT menyalip.</a:t>
            </a:r>
          </a:p>
          <a:p>
            <a:pPr lvl="1">
              <a:spcAft>
                <a:spcPts val="700"/>
              </a:spcAft>
            </a:pPr>
            <a:r>
              <a:rPr sz="1700" b="0">
                <a:solidFill>
                  <a:srgbClr val="333333"/>
                </a:solidFill>
              </a:rPr>
              <a:t>–  Transformer butuh lebih banyak data untuk unggul.</a:t>
            </a:r>
          </a:p>
          <a:p>
            <a:pPr>
              <a:spcAft>
                <a:spcPts val="700"/>
              </a:spcAft>
            </a:pPr>
            <a:r>
              <a:rPr sz="1900" b="1">
                <a:solidFill>
                  <a:srgbClr val="1F3864"/>
                </a:solidFill>
              </a:rPr>
              <a:t>•  Balance &gt; imbalance: versi imbalanced bikin F1 kelas minoritas (Netral) anjlok.</a:t>
            </a:r>
          </a:p>
          <a:p>
            <a:pPr>
              <a:spcAft>
                <a:spcPts val="700"/>
              </a:spcAft>
            </a:pPr>
            <a:r>
              <a:rPr sz="1900" b="1">
                <a:solidFill>
                  <a:srgbClr val="1F3864"/>
                </a:solidFill>
              </a:rPr>
              <a:t>•  Kualitas &gt; kuantitas: v2 (3k bersih) mengalahkan v4 (10k lebih noisy).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</a:rPr>
              <a:t>7 · Eksperimen Peningkatan &amp; Temuan Jujur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</a:rPr>
              <a:t>•  Cross-validation: macro-F1 jujur ~0,59-0,62 (single-split 0,694 optimistik).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</a:rPr>
              <a:t>•  Ensemble SVM (char n-gram + NB + LogReg): +2-3%.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B03030"/>
                </a:solidFill>
              </a:rPr>
              <a:t>•  Relabel konsensus LLM (3-pass): TIDAK menaikkan akurasi.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333333"/>
                </a:solidFill>
              </a:rPr>
              <a:t>–  Plafon ~0,6 = ambiguitas tugas (Positif&lt;-&gt;Netral), bukan noise label.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B7A3D"/>
                </a:solidFill>
              </a:rPr>
              <a:t>•  Berikutnya: IndoBERTweet (model domain medsos) — hipotesis lever terbesar.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</a:rPr>
              <a:t>8 · Kesimpulan &amp; Rencana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1F3864"/>
                </a:solidFill>
              </a:rPr>
              <a:t>•  Tidak ada pemenang mutlak — tergantung data: SVM unggul di data kecil/bersih; IndoBERT di data besar.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</a:rPr>
              <a:t>•  Plafon performa ditentukan ambiguitas tugas + kualitas label LLM.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333333"/>
                </a:solidFill>
              </a:rPr>
              <a:t>•  Next: IndoBERTweet · sampel gold-standard manusia · augmentasi kelas Netral.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</a:rPr>
              <a:t>Lampiran · Antisipasi Pertanyaan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333333"/>
                </a:solidFill>
              </a:rPr>
              <a:t>•  Kenapa label LLM? Skala 10k + konsisten; jujur LLM-assisted; diuji konsensus 3-pass.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333333"/>
                </a:solidFill>
              </a:rPr>
              <a:t>•  Kenapa macro-F1? 3 kelas; accuracy bias ke mayoritas pada data imbalanced.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333333"/>
                </a:solidFill>
              </a:rPr>
              <a:t>•  Kenapa akurasi ~0,6-0,7? Tugas ambigu (Positif&lt;-&gt;Netral, sarkasme/alay); relabel tak menolong -&gt; batas tugas.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333333"/>
                </a:solidFill>
              </a:rPr>
              <a:t>•  Kenapa IndoBERT kalah? Data kecil + domain mismatch (Wiki/berita) -&gt; rencana IndoBERTweet.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